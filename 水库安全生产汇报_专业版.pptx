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41148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【封面背景图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水库/大坝全景照片】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建议尺寸：411480000x274320000px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9376D"/>
                </a:solidFill>
                <a:latin typeface="微软雅黑"/>
              </a:rPr>
              <a:t>守牢安全底线 护航水务发展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5050"/>
                </a:solidFill>
                <a:latin typeface="微软雅黑"/>
              </a:rPr>
              <a:t>承德市水务局安全生产工作汇报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汇报目录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</a:pPr>
            <a:r>
              <a:rPr sz="2000" b="0">
                <a:solidFill>
                  <a:srgbClr val="19376D"/>
                </a:solidFill>
                <a:latin typeface="微软雅黑"/>
              </a:rPr>
              <a:t>01  切实加强水务安全生产</a:t>
            </a:r>
            <a:br/>
            <a:r>
              <a:rPr sz="2000" b="0">
                <a:solidFill>
                  <a:srgbClr val="19376D"/>
                </a:solidFill>
                <a:latin typeface="微软雅黑"/>
              </a:rPr>
              <a:t>      工作的认识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000000"/>
                </a:solidFill>
                <a:latin typeface="微软雅黑"/>
              </a:rPr>
              <a:t>02  水务安全生产现状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19376D"/>
                </a:solidFill>
                <a:latin typeface="微软雅黑"/>
              </a:rPr>
              <a:t>03  面临的形势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000000"/>
                </a:solidFill>
                <a:latin typeface="微软雅黑"/>
              </a:rPr>
              <a:t>04  下一步重点工作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19376D"/>
                </a:solidFill>
                <a:latin typeface="微软雅黑"/>
              </a:rPr>
              <a:t>05  常见安全隐患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【目录配图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水务工作场景】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建议尺寸：502920000x457200000px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一、切实加强水务安全生产工作的认识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（一）书记关于安全生产重要论述核心要义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书记始终将安全生产作为极重的民生大事，纳入总体布局和战略布局统筹推进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核心要牢牢把握六个方面：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1. 树牢红线意识 - 发展决不能以牺牲人的生命为代价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2. 健全责任体系 - 党政同责、一岗双责、齐抓共管、失职追责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3. 压实主体责任 - 安全投入、管理、培训、防护、应急五到位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4. 创新监管方式 - 提升监管精准度和效能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5. 构建长效机制 - 风险常态化管控、隐患动态化治理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6. 强化责任担当 - 以时时放心不下的责任感抓细抓实各项工作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188720"/>
            <a:ext cx="4114800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【领导视察/会议照片】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建议尺寸：411480000x457200000px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法律法规体系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（二）核心法律法规与政策文件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通用层面：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《安全生产法》- 企业主体责任、政府监管职责、隐患排查治理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水利领域：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《水法》《防洪法》- 全生命周期安全管理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事前防控、过程控制、事后处置闭环管理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省市制度：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《安全生产末端落实工作机制》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《安全生产违法行为行政处罚规定》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188720"/>
            <a:ext cx="4572000" cy="27432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【法律法规封面图】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建议尺寸：457200000x274320000px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（三）水务安全生产的目标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029200" cy="1554480"/>
          </a:xfrm>
          <a:prstGeom prst="round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76D"/>
                </a:solidFill>
                <a:latin typeface="微软雅黑"/>
              </a:rPr>
              <a:t>省水利厅总体目标</a:t>
            </a:r>
          </a:p>
          <a:p>
            <a:r>
              <a:rPr sz="1500" b="0">
                <a:solidFill>
                  <a:srgbClr val="000000"/>
                </a:solidFill>
                <a:latin typeface="微软雅黑"/>
              </a:rPr>
              <a:t>坚决杜绝重特大事故</a:t>
            </a:r>
            <a:br/>
            <a:r>
              <a:rPr sz="1500" b="0">
                <a:solidFill>
                  <a:srgbClr val="000000"/>
                </a:solidFill>
                <a:latin typeface="微软雅黑"/>
              </a:rPr>
              <a:t>遏制较大事故</a:t>
            </a:r>
            <a:br/>
            <a:r>
              <a:rPr sz="1500" b="0">
                <a:solidFill>
                  <a:srgbClr val="000000"/>
                </a:solidFill>
                <a:latin typeface="微软雅黑"/>
              </a:rPr>
              <a:t>减少一般事故</a:t>
            </a:r>
            <a:br/>
            <a:r>
              <a:rPr sz="1500" b="0">
                <a:solidFill>
                  <a:srgbClr val="000000"/>
                </a:solidFill>
                <a:latin typeface="微软雅黑"/>
              </a:rPr>
              <a:t>守牢安全底线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5029200" cy="1554480"/>
          </a:xfrm>
          <a:prstGeom prst="roundRect">
            <a:avLst/>
          </a:prstGeom>
          <a:solidFill>
            <a:srgbClr val="FFFAF0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76D"/>
                </a:solidFill>
                <a:latin typeface="微软雅黑"/>
              </a:rPr>
              <a:t>我市基本底线</a:t>
            </a:r>
          </a:p>
          <a:p>
            <a:r>
              <a:rPr sz="1500" b="0">
                <a:solidFill>
                  <a:srgbClr val="000000"/>
                </a:solidFill>
                <a:latin typeface="微软雅黑"/>
              </a:rPr>
              <a:t>人员不伤亡</a:t>
            </a:r>
            <a:br/>
            <a:r>
              <a:rPr sz="1500" b="0">
                <a:solidFill>
                  <a:srgbClr val="000000"/>
                </a:solidFill>
                <a:latin typeface="微软雅黑"/>
              </a:rPr>
              <a:t>财产少损失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5029200" cy="1554480"/>
          </a:xfrm>
          <a:prstGeom prst="round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76D"/>
                </a:solidFill>
                <a:latin typeface="微软雅黑"/>
              </a:rPr>
              <a:t>工作保障</a:t>
            </a:r>
          </a:p>
          <a:p>
            <a:r>
              <a:rPr sz="1500" b="0">
                <a:solidFill>
                  <a:srgbClr val="000000"/>
                </a:solidFill>
                <a:latin typeface="微软雅黑"/>
              </a:rPr>
              <a:t>水利工程建设有序推进</a:t>
            </a:r>
            <a:br/>
            <a:r>
              <a:rPr sz="1500" b="0">
                <a:solidFill>
                  <a:srgbClr val="000000"/>
                </a:solidFill>
                <a:latin typeface="微软雅黑"/>
              </a:rPr>
              <a:t>水利设施安全稳定运行</a:t>
            </a:r>
            <a:br/>
            <a:r>
              <a:rPr sz="1500" b="0">
                <a:solidFill>
                  <a:srgbClr val="000000"/>
                </a:solidFill>
                <a:latin typeface="微软雅黑"/>
              </a:rPr>
              <a:t>为经济社会发展提供水安全保障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【目标示意图/图表】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建议尺寸：502920000x502920000px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二、水务安全生产现状 - 事故统计（2021-2023）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全国水利行业事故数据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136 起  生产安全事故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152 人  死亡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28 人   受伤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事故类型分布：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水利建设项目事故 68%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  高处坠落、物体打击、溺水、机械伤害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水库及水电站运行事故 22%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  设施故障引发的溃坝、触电等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【事故统计图表/饼图】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建议尺寸：502920000x457200000px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承德水务安全生产四大特点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760720" cy="2286000"/>
          </a:xfrm>
          <a:prstGeom prst="round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76D"/>
                </a:solidFill>
                <a:latin typeface="微软雅黑"/>
              </a:rPr>
              <a:t>风险点多面广</a:t>
            </a:r>
          </a:p>
          <a:p>
            <a:r>
              <a:rPr sz="1400" b="0">
                <a:solidFill>
                  <a:srgbClr val="000000"/>
                </a:solidFill>
                <a:latin typeface="微软雅黑"/>
              </a:rPr>
              <a:t>四河之源、两库上游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1500 条河流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众多水库和水电站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188720"/>
            <a:ext cx="5760720" cy="2286000"/>
          </a:xfrm>
          <a:prstGeom prst="round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76D"/>
                </a:solidFill>
                <a:latin typeface="微软雅黑"/>
              </a:rPr>
              <a:t>季节性风险突出</a:t>
            </a:r>
          </a:p>
          <a:p>
            <a:r>
              <a:rPr sz="1400" b="0">
                <a:solidFill>
                  <a:srgbClr val="000000"/>
                </a:solidFill>
                <a:latin typeface="微软雅黑"/>
              </a:rPr>
              <a:t>冬季：冰面安全、设施冻损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夏季：山洪、滑坡、河道行洪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40"/>
            <a:ext cx="5760720" cy="2286000"/>
          </a:xfrm>
          <a:prstGeom prst="round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76D"/>
                </a:solidFill>
                <a:latin typeface="微软雅黑"/>
              </a:rPr>
              <a:t>工程类型复杂</a:t>
            </a:r>
          </a:p>
          <a:p>
            <a:r>
              <a:rPr sz="1400" b="0">
                <a:solidFill>
                  <a:srgbClr val="000000"/>
                </a:solidFill>
                <a:latin typeface="微软雅黑"/>
              </a:rPr>
              <a:t>运行类：水库、水电站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建设类：河道治理、设施提质增效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749040"/>
            <a:ext cx="5760720" cy="2286000"/>
          </a:xfrm>
          <a:prstGeom prst="round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76D"/>
                </a:solidFill>
                <a:latin typeface="微软雅黑"/>
              </a:rPr>
              <a:t>与生态安全关联</a:t>
            </a:r>
          </a:p>
          <a:p>
            <a:r>
              <a:rPr sz="1400" b="0">
                <a:solidFill>
                  <a:srgbClr val="000000"/>
                </a:solidFill>
                <a:latin typeface="微软雅黑"/>
              </a:rPr>
              <a:t>京津唐重要水源地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直接影响区域生态环境和供水安全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已开展的安全生产工作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一是安全生产责任体系逐步完善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制定领导干部职责清单、科室单位职责清单、工作指导意见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构建责任闭环，形成各负其责、齐抓共管格局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二是专项整治行动深入开展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治本攻坚三年行动、百日攻坚、冬春集中攻坚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常态化隐患排查、双盲抽查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事故发生率稳中有降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三是安全生产基础工作不断夯实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常态化安全警示教育和业务培训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推进风险管控六项机制建设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• 完善应急预案体系，组织应急演练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188720"/>
            <a:ext cx="45720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【检查工作照片】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建议尺寸：457200000x228600000px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（四）存在的主要问题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00" cy="2560320"/>
          </a:xfrm>
          <a:prstGeom prst="rect">
            <a:avLst/>
          </a:prstGeom>
          <a:solidFill>
            <a:srgbClr val="FFF0F0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B40000"/>
                </a:solidFill>
                <a:latin typeface="微软雅黑"/>
              </a:rPr>
              <a:t>监管层面四大短板</a:t>
            </a:r>
          </a:p>
          <a:p>
            <a:r>
              <a:rPr sz="1400" b="0">
                <a:solidFill>
                  <a:srgbClr val="000000"/>
                </a:solidFill>
                <a:latin typeface="微软雅黑"/>
              </a:rPr>
              <a:t>1. 责任传导上热下冷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2. 协同管控合力不足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3. 执法监管刚性不够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4. 隐患识别能力偏弱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31920"/>
            <a:ext cx="5486400" cy="2286000"/>
          </a:xfrm>
          <a:prstGeom prst="rect">
            <a:avLst/>
          </a:prstGeom>
          <a:solidFill>
            <a:srgbClr val="FFF5E6"/>
          </a:solidFill>
          <a:ln>
            <a:solidFill>
              <a:srgbClr val="E6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B45000"/>
                </a:solidFill>
                <a:latin typeface="微软雅黑"/>
              </a:rPr>
              <a:t>执行层面三大问题</a:t>
            </a:r>
          </a:p>
          <a:p>
            <a:r>
              <a:rPr sz="1400" b="0">
                <a:solidFill>
                  <a:srgbClr val="000000"/>
                </a:solidFill>
                <a:latin typeface="微软雅黑"/>
              </a:rPr>
              <a:t>1. 主体责任虚化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2. 隐患排查整治不彻底</a:t>
            </a:r>
            <a:br/>
            <a:r>
              <a:rPr sz="1400" b="0">
                <a:solidFill>
                  <a:srgbClr val="000000"/>
                </a:solidFill>
                <a:latin typeface="微软雅黑"/>
              </a:rPr>
              <a:t>3. 人员安全素养不足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【问题示意图】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建议尺寸：502920000x502920000px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三、面临的形势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（一）工作标准越来越严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国家安全生产考核由党中央组织实施，考核规格、标准大幅提升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（二）风险考验越来越大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极端天气趋多趋频趋强趋广，降雨带北抬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（三）事故发生概率增加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灾后重建、国债项目、重点工程集中开工，高危作业增多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（四）舆情关注度不断提高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水务安全事关民生，社会关注度高，易引发负面舆情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188720"/>
            <a:ext cx="4572000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【形势分析图】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建议尺寸：457200000x457200000px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四、下一步重点工作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一是持续健全责任体系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动态调整职责清单，构建全链条、全流程、全覆盖闭环管理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二是持续深化专项整治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完成治本攻坚三年行动（2024-2026），重点领域拉网式排查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三是持续提升防控能力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推进风险管控六项机制建设，常态化培训教育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四是持续完善应急保障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微软雅黑"/>
              </a:rPr>
              <a:t>修订应急预案，常态化应急演练，提升实战能力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188720"/>
            <a:ext cx="4572000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【工作计划图/时间表】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建议尺寸：457200000x457200000px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五、常见安全隐患 - 工程施工环节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858000" cy="777240"/>
          </a:xfrm>
          <a:prstGeom prst="rect">
            <a:avLst/>
          </a:prstGeom>
          <a:solidFill>
            <a:srgbClr val="FFF5F5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微软雅黑"/>
              </a:rPr>
              <a:t>1. 现场管理不规范 - 无专项方案、无证上岗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6858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微软雅黑"/>
              </a:rPr>
              <a:t>2. 基坑边坡围堰风险 - 支护不到位、排水不畅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34640"/>
            <a:ext cx="6858000" cy="777240"/>
          </a:xfrm>
          <a:prstGeom prst="rect">
            <a:avLst/>
          </a:prstGeom>
          <a:solidFill>
            <a:srgbClr val="FFF5F5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微软雅黑"/>
              </a:rPr>
              <a:t>3. 高处作业脚手架 - 搭设不规范、未系安全带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03320"/>
            <a:ext cx="6858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微软雅黑"/>
              </a:rPr>
              <a:t>4. 施工用电 - 电线破损、私拉乱接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6858000" cy="777240"/>
          </a:xfrm>
          <a:prstGeom prst="rect">
            <a:avLst/>
          </a:prstGeom>
          <a:solidFill>
            <a:srgbClr val="FFF5F5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微软雅黑"/>
              </a:rPr>
              <a:t>5. 起重机械设备 - 未检测验收、带病运行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40680"/>
            <a:ext cx="6858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微软雅黑"/>
              </a:rPr>
              <a:t>6. 消防安全 - 易燃物乱堆、动火无审批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097280"/>
            <a:ext cx="3657600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505050"/>
                </a:solidFill>
                <a:latin typeface="微软雅黑"/>
              </a:rPr>
              <a:t>【施工现场隐患照片】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建议尺寸：365760000x502920000px</a:t>
            </a:r>
            <a:br/>
            <a:r>
              <a:rPr sz="1200" b="0">
                <a:solidFill>
                  <a:srgbClr val="505050"/>
                </a:solidFill>
                <a:latin typeface="微软雅黑"/>
              </a:rPr>
              <a:t>点击插入相关图片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</a:rPr>
              <a:t>五、常见安全隐患 - 设施运行环节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solidFill>
            <a:srgbClr val="FFF5F5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微软雅黑"/>
              </a:rPr>
              <a:t>1. 水库大坝 - 坝体渗漏管涌、溢洪道堵塞、监测设施异常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微软雅黑"/>
              </a:rPr>
              <a:t>2. 水闸泵站 - 闸门变形锈蚀、机电设备老化、违规操作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10972800" cy="822960"/>
          </a:xfrm>
          <a:prstGeom prst="rect">
            <a:avLst/>
          </a:prstGeom>
          <a:solidFill>
            <a:srgbClr val="FFF5F5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微软雅黑"/>
              </a:rPr>
              <a:t>3. 堤防河道 - 堤防塌陷、河道淤积、违章侵占采砂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10972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微软雅黑"/>
              </a:rPr>
              <a:t>4. 供水灌区 - 管道破损渗漏、阀门失灵、水源地污染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0972800" cy="822960"/>
          </a:xfrm>
          <a:prstGeom prst="rect">
            <a:avLst/>
          </a:prstGeom>
          <a:solidFill>
            <a:srgbClr val="FFF5F5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微软雅黑"/>
              </a:rPr>
              <a:t>5. 管理应急 - 值班制度不落实、应急物资不足、演练流于形式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汇报完毕</a:t>
            </a:r>
          </a:p>
          <a:p>
            <a:pPr algn="ctr">
              <a:spcBef>
                <a:spcPts val="2000"/>
              </a:spcBef>
            </a:pPr>
            <a:r>
              <a:rPr sz="2400" b="0">
                <a:solidFill>
                  <a:srgbClr val="FFFFFF"/>
                </a:solidFill>
                <a:latin typeface="微软雅黑"/>
              </a:rPr>
              <a:t>请各位领导批评指正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