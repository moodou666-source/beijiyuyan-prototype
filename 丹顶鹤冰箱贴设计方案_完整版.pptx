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274320"/>
            <a:ext cx="1097280" cy="1097280"/>
          </a:xfrm>
          <a:prstGeom prst="ellipse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19376D"/>
                </a:solidFill>
                <a:latin typeface="微软雅黑"/>
              </a:rPr>
              <a:t>丹顶鹤主题冰箱贴</a:t>
            </a:r>
          </a:p>
          <a:p>
            <a:r>
              <a:rPr sz="2400" b="0">
                <a:solidFill>
                  <a:srgbClr val="505050"/>
                </a:solidFill>
                <a:latin typeface="微软雅黑"/>
              </a:rPr>
              <a:t>三款完整设计方案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472C4"/>
                </a:solidFill>
                <a:latin typeface="微软雅黑"/>
              </a:rPr>
              <a:t>产品设计 · 视觉规划 · 工艺说明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05050"/>
                </a:solidFill>
                <a:latin typeface="微软雅黑"/>
              </a:rPr>
              <a:t>版本 V1.0 | 2026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产品概览</a:t>
            </a:r>
          </a:p>
          <a:p>
            <a:r>
              <a:rPr sz="1400" b="0">
                <a:solidFill>
                  <a:srgbClr val="C8C8C8"/>
                </a:solidFill>
                <a:latin typeface="微软雅黑"/>
              </a:rPr>
              <a:t>三款不同风格定位，覆盖多元消费人群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572000"/>
          </a:xfrm>
          <a:prstGeom prst="roundRect">
            <a:avLst/>
          </a:prstGeom>
          <a:solidFill>
            <a:srgbClr val="F0F5FA"/>
          </a:solidFill>
          <a:ln w="381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9376D"/>
                </a:solidFill>
                <a:latin typeface="微软雅黑"/>
              </a:rPr>
              <a:t>松间仙鹤</a:t>
            </a:r>
          </a:p>
          <a:p>
            <a:br/>
            <a:pPr algn="ctr"/>
            <a:r>
              <a:rPr sz="1400" b="0">
                <a:solidFill>
                  <a:srgbClr val="000000"/>
                </a:solidFill>
                <a:latin typeface="微软雅黑"/>
              </a:rPr>
              <a:t>国风浮雕款</a:t>
            </a:r>
            <a:br/>
            <a:br/>
            <a:r>
              <a:rPr sz="1400" b="0">
                <a:solidFill>
                  <a:srgbClr val="000000"/>
                </a:solidFill>
                <a:latin typeface="微软雅黑"/>
              </a:rPr>
              <a:t>定位：高端文创</a:t>
            </a:r>
            <a:br/>
            <a:br/>
            <a:r>
              <a:rPr sz="1400" b="0">
                <a:solidFill>
                  <a:srgbClr val="000000"/>
                </a:solidFill>
                <a:latin typeface="微软雅黑"/>
              </a:rPr>
              <a:t>人群：文化爱好者、游客</a:t>
            </a:r>
            <a:br/>
            <a:br/>
            <a:r>
              <a:rPr sz="1400" b="0">
                <a:solidFill>
                  <a:srgbClr val="000000"/>
                </a:solidFill>
                <a:latin typeface="微软雅黑"/>
              </a:rPr>
              <a:t>价格：¥68-88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474720" cy="4572000"/>
          </a:xfrm>
          <a:prstGeom prst="roundRect">
            <a:avLst/>
          </a:prstGeom>
          <a:solidFill>
            <a:srgbClr val="F0F5FA"/>
          </a:solidFill>
          <a:ln w="381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D7D31"/>
                </a:solidFill>
                <a:latin typeface="微软雅黑"/>
              </a:rPr>
              <a:t>萌鹤团子</a:t>
            </a:r>
          </a:p>
          <a:p>
            <a:br/>
            <a:pPr algn="ctr"/>
            <a:r>
              <a:rPr sz="1400" b="0">
                <a:solidFill>
                  <a:srgbClr val="000000"/>
                </a:solidFill>
                <a:latin typeface="微软雅黑"/>
              </a:rPr>
              <a:t>可爱爆款款</a:t>
            </a:r>
            <a:br/>
            <a:br/>
            <a:r>
              <a:rPr sz="1400" b="0">
                <a:solidFill>
                  <a:srgbClr val="000000"/>
                </a:solidFill>
                <a:latin typeface="微软雅黑"/>
              </a:rPr>
              <a:t>定位：大众爆款</a:t>
            </a:r>
            <a:br/>
            <a:br/>
            <a:r>
              <a:rPr sz="1400" b="0">
                <a:solidFill>
                  <a:srgbClr val="000000"/>
                </a:solidFill>
                <a:latin typeface="微软雅黑"/>
              </a:rPr>
              <a:t>人群：年轻人、学生</a:t>
            </a:r>
            <a:br/>
            <a:br/>
            <a:r>
              <a:rPr sz="1400" b="0">
                <a:solidFill>
                  <a:srgbClr val="000000"/>
                </a:solidFill>
                <a:latin typeface="微软雅黑"/>
              </a:rPr>
              <a:t>价格：¥35-45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371600"/>
            <a:ext cx="3474720" cy="4572000"/>
          </a:xfrm>
          <a:prstGeom prst="roundRect">
            <a:avLst/>
          </a:prstGeom>
          <a:solidFill>
            <a:srgbClr val="F0F5FA"/>
          </a:solidFill>
          <a:ln w="381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E1E1E"/>
                </a:solidFill>
                <a:latin typeface="微软雅黑"/>
              </a:rPr>
              <a:t>极线飞鹤</a:t>
            </a:r>
          </a:p>
          <a:p>
            <a:br/>
            <a:pPr algn="ctr"/>
            <a:r>
              <a:rPr sz="1400" b="0">
                <a:solidFill>
                  <a:srgbClr val="000000"/>
                </a:solidFill>
                <a:latin typeface="微软雅黑"/>
              </a:rPr>
              <a:t>现代家居款</a:t>
            </a:r>
            <a:br/>
            <a:br/>
            <a:r>
              <a:rPr sz="1400" b="0">
                <a:solidFill>
                  <a:srgbClr val="000000"/>
                </a:solidFill>
                <a:latin typeface="微软雅黑"/>
              </a:rPr>
              <a:t>定位：设计师款</a:t>
            </a:r>
            <a:br/>
            <a:br/>
            <a:r>
              <a:rPr sz="1400" b="0">
                <a:solidFill>
                  <a:srgbClr val="000000"/>
                </a:solidFill>
                <a:latin typeface="微软雅黑"/>
              </a:rPr>
              <a:t>人群：品质生活人群</a:t>
            </a:r>
            <a:br/>
            <a:br/>
            <a:r>
              <a:rPr sz="1400" b="0">
                <a:solidFill>
                  <a:srgbClr val="000000"/>
                </a:solidFill>
                <a:latin typeface="微软雅黑"/>
              </a:rPr>
              <a:t>价格：¥58-78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设计理念</a:t>
            </a:r>
          </a:p>
          <a:p>
            <a:r>
              <a:rPr sz="1400" b="0">
                <a:solidFill>
                  <a:srgbClr val="C8C8C8"/>
                </a:solidFill>
                <a:latin typeface="微软雅黑"/>
              </a:rPr>
              <a:t>从传统文化到现代审美的完整表达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solidFill>
            <a:srgbClr val="F0F5FA"/>
          </a:solidFill>
          <a:ln w="2540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9376D"/>
                </a:solidFill>
                <a:latin typeface="微软雅黑"/>
              </a:rPr>
              <a:t>核心设计逻辑</a:t>
            </a:r>
          </a:p>
          <a:p>
            <a:br/>
            <a:r>
              <a:rPr sz="1300" b="0">
                <a:solidFill>
                  <a:srgbClr val="000000"/>
                </a:solidFill>
                <a:latin typeface="微软雅黑"/>
              </a:rPr>
              <a:t>1. 文化传承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   丹顶鹤在中国文化中象征长寿、吉祥、高雅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   提取传统元素：松、鹤、日轮、祥云</a:t>
            </a:r>
          </a:p>
          <a:p>
            <a:br/>
            <a:r>
              <a:rPr sz="1300" b="0">
                <a:solidFill>
                  <a:srgbClr val="000000"/>
                </a:solidFill>
                <a:latin typeface="微软雅黑"/>
              </a:rPr>
              <a:t>2. 分层表达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   三款产品对应三种审美层次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   传统 → 萌趣 → 极简</a:t>
            </a:r>
          </a:p>
          <a:p>
            <a:br/>
            <a:r>
              <a:rPr sz="1300" b="0">
                <a:solidFill>
                  <a:srgbClr val="000000"/>
                </a:solidFill>
                <a:latin typeface="微软雅黑"/>
              </a:rPr>
              <a:t>3. 场景覆盖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   景区文创 → 年轻礼品 → 家居装饰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   全渠道、全人群覆盖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1828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505050"/>
                </a:solidFill>
                <a:latin typeface="微软雅黑"/>
              </a:rPr>
              <a:t>高端收藏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645920"/>
            <a:ext cx="2743200" cy="11887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松间仙鹤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0"/>
            <a:ext cx="731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微软雅黑"/>
              </a:rPr>
              <a:t>文化深度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017520"/>
            <a:ext cx="1828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505050"/>
                </a:solidFill>
                <a:latin typeface="微软雅黑"/>
              </a:rPr>
              <a:t>大众消费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3017520"/>
            <a:ext cx="2743200" cy="1188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萌鹤团子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3017520"/>
            <a:ext cx="731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微软雅黑"/>
              </a:rPr>
              <a:t>情感共鸣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389120"/>
            <a:ext cx="1828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505050"/>
                </a:solidFill>
                <a:latin typeface="微软雅黑"/>
              </a:rPr>
              <a:t>品质生活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4389120"/>
            <a:ext cx="2743200" cy="1188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极线飞鹤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4389120"/>
            <a:ext cx="731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微软雅黑"/>
              </a:rPr>
              <a:t>审美表达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款式一：松间仙鹤</a:t>
            </a:r>
          </a:p>
          <a:p>
            <a:r>
              <a:rPr sz="1400" b="0">
                <a:solidFill>
                  <a:srgbClr val="C8C8C8"/>
                </a:solidFill>
                <a:latin typeface="微软雅黑"/>
              </a:rPr>
              <a:t>国风浮雕款 · 东方文创旗舰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00" cy="3200400"/>
          </a:xfrm>
          <a:prstGeom prst="rect">
            <a:avLst/>
          </a:prstGeom>
          <a:solidFill>
            <a:srgbClr val="F0F5FA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76D"/>
                </a:solidFill>
                <a:latin typeface="微软雅黑"/>
              </a:rPr>
              <a:t>视觉设计要点</a:t>
            </a:r>
          </a:p>
          <a:p>
            <a:br/>
            <a:r>
              <a:rPr sz="1300" b="0">
                <a:solidFill>
                  <a:srgbClr val="000000"/>
                </a:solidFill>
                <a:latin typeface="微软雅黑"/>
              </a:rPr>
              <a:t>• 轮廓：竖版椭圆形，中式窗棂造型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• 构图：丹顶鹤居中偏左，S 型鹤颈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• 层次：4 层浮雕，高低错落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• 元素：鹤、日轮、迎客松、远山、祥云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54864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376D"/>
                </a:solidFill>
                <a:latin typeface="微软雅黑"/>
              </a:rPr>
              <a:t>配色方案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5303520"/>
            <a:ext cx="640080" cy="640080"/>
          </a:xfrm>
          <a:prstGeom prst="ellipse">
            <a:avLst/>
          </a:prstGeom>
          <a:solidFill>
            <a:srgbClr val="F5F5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989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/>
              </a:rPr>
              <a:t>象牙白</a:t>
            </a:r>
          </a:p>
        </p:txBody>
      </p:sp>
      <p:sp>
        <p:nvSpPr>
          <p:cNvPr id="8" name="Oval 7"/>
          <p:cNvSpPr/>
          <p:nvPr/>
        </p:nvSpPr>
        <p:spPr>
          <a:xfrm>
            <a:off x="2103120" y="5303520"/>
            <a:ext cx="640080" cy="640080"/>
          </a:xfrm>
          <a:prstGeom prst="ellipse">
            <a:avLst/>
          </a:prstGeom>
          <a:solidFill>
            <a:srgbClr val="B41E1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5989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/>
              </a:rPr>
              <a:t>朱砂红</a:t>
            </a:r>
          </a:p>
        </p:txBody>
      </p:sp>
      <p:sp>
        <p:nvSpPr>
          <p:cNvPr id="10" name="Oval 9"/>
          <p:cNvSpPr/>
          <p:nvPr/>
        </p:nvSpPr>
        <p:spPr>
          <a:xfrm>
            <a:off x="3108960" y="5303520"/>
            <a:ext cx="640080" cy="640080"/>
          </a:xfrm>
          <a:prstGeom prst="ellipse">
            <a:avLst/>
          </a:prstGeom>
          <a:solidFill>
            <a:srgbClr val="1E1E1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5989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/>
              </a:rPr>
              <a:t>墨黑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5303520"/>
            <a:ext cx="640080" cy="640080"/>
          </a:xfrm>
          <a:prstGeom prst="ellipse">
            <a:avLst/>
          </a:prstGeom>
          <a:solidFill>
            <a:srgbClr val="3C646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5989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/>
              </a:rPr>
              <a:t>青黛蓝绿</a:t>
            </a:r>
          </a:p>
        </p:txBody>
      </p:sp>
      <p:sp>
        <p:nvSpPr>
          <p:cNvPr id="14" name="Oval 13"/>
          <p:cNvSpPr/>
          <p:nvPr/>
        </p:nvSpPr>
        <p:spPr>
          <a:xfrm>
            <a:off x="5120640" y="5303520"/>
            <a:ext cx="640080" cy="64008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5989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/>
              </a:rPr>
              <a:t>香槟金</a:t>
            </a:r>
          </a:p>
        </p:txBody>
      </p:sp>
      <p:pic>
        <p:nvPicPr>
          <p:cNvPr id="16" name="Picture 15" descr="丹顶鹤冰箱贴设计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846320" cy="50292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583680" y="1188720"/>
            <a:ext cx="4846320" cy="5029200"/>
          </a:xfrm>
          <a:prstGeom prst="rect">
            <a:avLst/>
          </a:prstGeom>
          <a:noFill/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6309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05050"/>
                </a:solidFill>
                <a:latin typeface="微软雅黑"/>
              </a:rPr>
              <a:t>丹顶鹤冰箱贴设计图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松间仙鹤</a:t>
            </a:r>
          </a:p>
          <a:p>
            <a:r>
              <a:rPr sz="1400" b="0">
                <a:solidFill>
                  <a:srgbClr val="C8C8C8"/>
                </a:solidFill>
                <a:latin typeface="微软雅黑"/>
              </a:rPr>
              <a:t>工艺说明与分层结构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9376D"/>
                </a:solidFill>
                <a:latin typeface="微软雅黑"/>
              </a:rPr>
              <a:t>分层结构（从上到下）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00" cy="685800"/>
          </a:xfrm>
          <a:prstGeom prst="rect">
            <a:avLst/>
          </a:prstGeom>
          <a:solidFill>
            <a:srgbClr val="F0F0F0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第 1 层：鹤头层  |  1.5mm 软 PVC  |  最高浮雕，含鹤顶红点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5486400" cy="685800"/>
          </a:xfrm>
          <a:prstGeom prst="rect">
            <a:avLst/>
          </a:prstGeom>
          <a:solidFill>
            <a:srgbClr val="FAFA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第 2 层：鹤身层  |  1mm 软 PVC  |  身体主体，羽毛纹理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5486400" cy="685800"/>
          </a:xfrm>
          <a:prstGeom prst="rect">
            <a:avLst/>
          </a:prstGeom>
          <a:solidFill>
            <a:srgbClr val="F0F0F0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第 3 层：山石层  |  1mm 软 PVC  |  山石、松枝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80"/>
            <a:ext cx="5486400" cy="685800"/>
          </a:xfrm>
          <a:prstGeom prst="rect">
            <a:avLst/>
          </a:prstGeom>
          <a:solidFill>
            <a:srgbClr val="FAFA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第 4 层：底板  |  1.5mm 软 PVC  |  背景、云雾、日轮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5486400" cy="685800"/>
          </a:xfrm>
          <a:prstGeom prst="rect">
            <a:avLst/>
          </a:prstGeom>
          <a:solidFill>
            <a:srgbClr val="F0F0F0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第 5 层：磁片  |  1mm 橡胶磁  |  整面背胶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188720"/>
            <a:ext cx="484632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76D"/>
                </a:solidFill>
                <a:latin typeface="微软雅黑"/>
              </a:rPr>
              <a:t>核心工艺</a:t>
            </a:r>
          </a:p>
          <a:p>
            <a:br/>
            <a:r>
              <a:rPr sz="1300" b="0">
                <a:solidFill>
                  <a:srgbClr val="000000"/>
                </a:solidFill>
                <a:latin typeface="微软雅黑"/>
              </a:rPr>
              <a:t>✓ 多层浮雕 - 4 层高低错落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✓ 烫金工艺 - 日轮香槟金烫金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✓ 半透明喷涂 - 云雾朦胧感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✓ 细纹模具 - 羽毛纹理清晰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✓ 渐变喷涂 - 墨黑到深灰过渡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754880"/>
            <a:ext cx="4846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1E1E"/>
                </a:solidFill>
                <a:latin typeface="微软雅黑"/>
              </a:rPr>
              <a:t>尺寸规格：78×55×5mm | 重量：约 25g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款式二：萌鹤团子</a:t>
            </a:r>
          </a:p>
          <a:p>
            <a:r>
              <a:rPr sz="1400" b="0">
                <a:solidFill>
                  <a:srgbClr val="C8C8C8"/>
                </a:solidFill>
                <a:latin typeface="微软雅黑"/>
              </a:rPr>
              <a:t>可爱爆款款 · 年轻礼品市场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00" cy="3200400"/>
          </a:xfrm>
          <a:prstGeom prst="rect">
            <a:avLst/>
          </a:prstGeom>
          <a:solidFill>
            <a:srgbClr val="FFF5F0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5000"/>
                </a:solidFill>
                <a:latin typeface="微软雅黑"/>
              </a:rPr>
              <a:t>萌系设计要素</a:t>
            </a:r>
          </a:p>
          <a:p>
            <a:br/>
            <a:r>
              <a:rPr sz="1300" b="0">
                <a:solidFill>
                  <a:srgbClr val="000000"/>
                </a:solidFill>
                <a:latin typeface="微软雅黑"/>
              </a:rPr>
              <a:t>• 比例：大头小身 2:1，Q 版标准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• 表情：闭眼笑 + 弯弯眼，治愈感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• 腮红：两团蜜桃粉，增加可爱度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• 动作：双手抱小鱼，增加故事性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• 背景：水波纹 + 气泡 + 荷叶，场景感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54864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5000"/>
                </a:solidFill>
                <a:latin typeface="微软雅黑"/>
              </a:rPr>
              <a:t>马卡龙配色方案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5303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989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/>
              </a:rPr>
              <a:t>纯白</a:t>
            </a:r>
          </a:p>
        </p:txBody>
      </p:sp>
      <p:sp>
        <p:nvSpPr>
          <p:cNvPr id="8" name="Oval 7"/>
          <p:cNvSpPr/>
          <p:nvPr/>
        </p:nvSpPr>
        <p:spPr>
          <a:xfrm>
            <a:off x="2103120" y="5303520"/>
            <a:ext cx="640080" cy="640080"/>
          </a:xfrm>
          <a:prstGeom prst="ellipse">
            <a:avLst/>
          </a:prstGeom>
          <a:solidFill>
            <a:srgbClr val="DC3C3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5989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/>
              </a:rPr>
              <a:t>鲜红</a:t>
            </a:r>
          </a:p>
        </p:txBody>
      </p:sp>
      <p:sp>
        <p:nvSpPr>
          <p:cNvPr id="10" name="Oval 9"/>
          <p:cNvSpPr/>
          <p:nvPr/>
        </p:nvSpPr>
        <p:spPr>
          <a:xfrm>
            <a:off x="3108960" y="5303520"/>
            <a:ext cx="640080" cy="640080"/>
          </a:xfrm>
          <a:prstGeom prst="ellipse">
            <a:avLst/>
          </a:prstGeom>
          <a:solidFill>
            <a:srgbClr val="FFB4B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5989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/>
              </a:rPr>
              <a:t>蜜桃粉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5303520"/>
            <a:ext cx="640080" cy="640080"/>
          </a:xfrm>
          <a:prstGeom prst="ellipse">
            <a:avLst/>
          </a:prstGeom>
          <a:solidFill>
            <a:srgbClr val="B4DC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5989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/>
              </a:rPr>
              <a:t>马卡龙蓝</a:t>
            </a:r>
          </a:p>
        </p:txBody>
      </p:sp>
      <p:sp>
        <p:nvSpPr>
          <p:cNvPr id="14" name="Oval 13"/>
          <p:cNvSpPr/>
          <p:nvPr/>
        </p:nvSpPr>
        <p:spPr>
          <a:xfrm>
            <a:off x="5120640" y="5303520"/>
            <a:ext cx="640080" cy="640080"/>
          </a:xfrm>
          <a:prstGeom prst="ellipse">
            <a:avLst/>
          </a:prstGeom>
          <a:solidFill>
            <a:srgbClr val="B4E6B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5989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微软雅黑"/>
              </a:rPr>
              <a:t>嫩绿</a:t>
            </a:r>
          </a:p>
        </p:txBody>
      </p:sp>
      <p:pic>
        <p:nvPicPr>
          <p:cNvPr id="16" name="Picture 15" descr="丹顶鹤冰箱贴设计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846320" cy="50292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583680" y="1188720"/>
            <a:ext cx="4846320" cy="5029200"/>
          </a:xfrm>
          <a:prstGeom prst="rect">
            <a:avLst/>
          </a:prstGeom>
          <a:noFill/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6309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05050"/>
                </a:solidFill>
                <a:latin typeface="微软雅黑"/>
              </a:rPr>
              <a:t>萌鹤团子设计效果图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萌鹤团子</a:t>
            </a:r>
          </a:p>
          <a:p>
            <a:r>
              <a:rPr sz="1400" b="0">
                <a:solidFill>
                  <a:srgbClr val="C8C8C8"/>
                </a:solidFill>
                <a:latin typeface="微软雅黑"/>
              </a:rPr>
              <a:t>滴胶亚克力工艺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00" cy="3200400"/>
          </a:xfrm>
          <a:prstGeom prst="rect">
            <a:avLst/>
          </a:prstGeom>
          <a:solidFill>
            <a:srgbClr val="F0F5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76D"/>
                </a:solidFill>
                <a:latin typeface="微软雅黑"/>
              </a:rPr>
              <a:t>分层结构（从上到下）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00" cy="594360"/>
          </a:xfrm>
          <a:prstGeom prst="rect">
            <a:avLst/>
          </a:prstGeom>
          <a:solidFill>
            <a:srgbClr val="F5F5F5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滴胶层  |  1.5mm UV 树脂  |  高透明，表面光滑，水晶质感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4864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印刷层  |  0.1mm 彩印  |  1200dpi 高清印刷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5486400" cy="594360"/>
          </a:xfrm>
          <a:prstGeom prst="rect">
            <a:avLst/>
          </a:prstGeom>
          <a:solidFill>
            <a:srgbClr val="F5F5F5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底板  |  2mm 亚克力  |  透明或白色底板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54864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磁片  |  0.8mm 橡胶磁  |  圆形背胶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188720"/>
            <a:ext cx="4846320" cy="2560320"/>
          </a:xfrm>
          <a:prstGeom prst="roundRect">
            <a:avLst/>
          </a:prstGeom>
          <a:solidFill>
            <a:srgbClr val="FFFAF0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5000"/>
                </a:solidFill>
                <a:latin typeface="微软雅黑"/>
              </a:rPr>
              <a:t>特色工艺</a:t>
            </a:r>
          </a:p>
          <a:p>
            <a:br/>
            <a:r>
              <a:rPr sz="1300" b="0">
                <a:solidFill>
                  <a:srgbClr val="000000"/>
                </a:solidFill>
                <a:latin typeface="微软雅黑"/>
              </a:rPr>
              <a:t>✓ 滴胶 - 高透明，镜面效果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✓ 高清彩印 - 1200dpi，色彩鲜艳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✓ 可选：微闪粉、夜光效果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114800"/>
            <a:ext cx="4846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5000"/>
                </a:solidFill>
                <a:latin typeface="微软雅黑"/>
              </a:rPr>
              <a:t>尺寸规格：Φ60×4mm | 重量：约 18g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款式三：极线飞鹤</a:t>
            </a:r>
          </a:p>
          <a:p>
            <a:r>
              <a:rPr sz="1400" b="0">
                <a:solidFill>
                  <a:srgbClr val="C8C8C8"/>
                </a:solidFill>
                <a:latin typeface="微软雅黑"/>
              </a:rPr>
              <a:t>现代家居款 · 北欧风极简主义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0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E1E"/>
                </a:solidFill>
                <a:latin typeface="微软雅黑"/>
              </a:rPr>
              <a:t>极简设计理念</a:t>
            </a:r>
          </a:p>
          <a:p>
            <a:br/>
            <a:r>
              <a:rPr sz="1300" b="0">
                <a:solidFill>
                  <a:srgbClr val="000000"/>
                </a:solidFill>
                <a:latin typeface="微软雅黑"/>
              </a:rPr>
              <a:t>• 造型：线条化，几何切面表达翅膀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• 构图：一条连续弧线完成身体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• 留白：占画面 70%，营造空间感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• 元素：仅保留鹤、水面线、红圆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54864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1E1E"/>
                </a:solidFill>
                <a:latin typeface="微软雅黑"/>
              </a:rPr>
              <a:t>极简双色 + 点缀</a:t>
            </a:r>
          </a:p>
          <a:p>
            <a:br/>
            <a:r>
              <a:rPr sz="1200" b="0">
                <a:solidFill>
                  <a:srgbClr val="000000"/>
                </a:solidFill>
                <a:latin typeface="微软雅黑"/>
              </a:rPr>
              <a:t>配色比例：</a:t>
            </a:r>
            <a:br/>
            <a:r>
              <a:rPr sz="1200" b="0">
                <a:solidFill>
                  <a:srgbClr val="000000"/>
                </a:solidFill>
                <a:latin typeface="微软雅黑"/>
              </a:rPr>
              <a:t>底色（留白）85% + 线条 12% + 红圆 3%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5029200"/>
            <a:ext cx="1371600" cy="914400"/>
          </a:xfrm>
          <a:prstGeom prst="rect">
            <a:avLst/>
          </a:prstGeom>
          <a:solidFill>
            <a:srgbClr val="FAF8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/>
              </a:rPr>
              <a:t>哑光奶油白</a:t>
            </a:r>
            <a:br/>
            <a:r>
              <a:rPr sz="1000" b="0">
                <a:solidFill>
                  <a:srgbClr val="000000"/>
                </a:solidFill>
                <a:latin typeface="微软雅黑"/>
              </a:rPr>
              <a:t>85%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5029200"/>
            <a:ext cx="1371600" cy="914400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6035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/>
              </a:rPr>
              <a:t>深炭黑</a:t>
            </a:r>
            <a:br/>
            <a:r>
              <a:rPr sz="1000" b="0">
                <a:solidFill>
                  <a:srgbClr val="000000"/>
                </a:solidFill>
                <a:latin typeface="微软雅黑"/>
              </a:rPr>
              <a:t>12%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5029200"/>
            <a:ext cx="1371600" cy="914400"/>
          </a:xfrm>
          <a:prstGeom prst="rect">
            <a:avLst/>
          </a:prstGeom>
          <a:solidFill>
            <a:srgbClr val="B41E1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6035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/>
              </a:rPr>
              <a:t>正红</a:t>
            </a:r>
            <a:br/>
            <a:r>
              <a:rPr sz="1000" b="0">
                <a:solidFill>
                  <a:srgbClr val="000000"/>
                </a:solidFill>
                <a:latin typeface="微软雅黑"/>
              </a:rPr>
              <a:t>3%</a:t>
            </a:r>
          </a:p>
        </p:txBody>
      </p:sp>
      <p:pic>
        <p:nvPicPr>
          <p:cNvPr id="12" name="Picture 11" descr="丹顶鹤冰箱贴设计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846320" cy="5029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83680" y="1188720"/>
            <a:ext cx="4846320" cy="5029200"/>
          </a:xfrm>
          <a:prstGeom prst="rect">
            <a:avLst/>
          </a:prstGeom>
          <a:noFill/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6309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05050"/>
                </a:solidFill>
                <a:latin typeface="微软雅黑"/>
              </a:rPr>
              <a:t>极线飞鹤设计效果图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极线飞鹤</a:t>
            </a:r>
          </a:p>
          <a:p>
            <a:r>
              <a:rPr sz="1400" b="0">
                <a:solidFill>
                  <a:srgbClr val="C8C8C8"/>
                </a:solidFill>
                <a:latin typeface="微软雅黑"/>
              </a:rPr>
              <a:t>陶瓷 + 哑光釉工艺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00" cy="3200400"/>
          </a:xfrm>
          <a:prstGeom prst="rect">
            <a:avLst/>
          </a:prstGeom>
          <a:solidFill>
            <a:srgbClr val="F0F5FA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E1E"/>
                </a:solidFill>
                <a:latin typeface="微软雅黑"/>
              </a:rPr>
              <a:t>陶瓷工艺流程</a:t>
            </a:r>
          </a:p>
          <a:p>
            <a:br/>
            <a:r>
              <a:rPr sz="1300" b="0">
                <a:solidFill>
                  <a:srgbClr val="000000"/>
                </a:solidFill>
                <a:latin typeface="微软雅黑"/>
              </a:rPr>
              <a:t>1. 瓷胚高温烧制成型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2. 激光雕刻鹤线条（精细、流畅）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3. 手工填充釉料（每只略有不同）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4. 二次低温烧制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5. 背面粘贴强磁片（钕磁铁）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188720"/>
            <a:ext cx="4846320" cy="2560320"/>
          </a:xfrm>
          <a:prstGeom prst="roundRect">
            <a:avLst/>
          </a:prstGeom>
          <a:solidFill>
            <a:srgbClr val="F5F5F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E1E"/>
                </a:solidFill>
                <a:latin typeface="微软雅黑"/>
              </a:rPr>
              <a:t>核心工艺</a:t>
            </a:r>
          </a:p>
          <a:p>
            <a:br/>
            <a:r>
              <a:rPr sz="1300" b="0">
                <a:solidFill>
                  <a:srgbClr val="000000"/>
                </a:solidFill>
                <a:latin typeface="微软雅黑"/>
              </a:rPr>
              <a:t>✓ 激光刻线 - 精细流畅，一致性好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✓ 手工上釉 - 独特性，每只不同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✓ 哑光釉 - 温润质感，不反光</a:t>
            </a:r>
          </a:p>
          <a:p>
            <a:r>
              <a:rPr sz="1300" b="0">
                <a:solidFill>
                  <a:srgbClr val="000000"/>
                </a:solidFill>
                <a:latin typeface="微软雅黑"/>
              </a:rPr>
              <a:t>✓ 强磁片 - 钕磁铁，吸附力强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4114800"/>
            <a:ext cx="4846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1E1E"/>
                </a:solidFill>
                <a:latin typeface="微软雅黑"/>
              </a:rPr>
              <a:t>尺寸规格：85×40×3.5mm | 重量：约 35g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三款产品对比</a:t>
            </a:r>
          </a:p>
          <a:p>
            <a:r>
              <a:rPr sz="1400" b="0">
                <a:solidFill>
                  <a:srgbClr val="C8C8C8"/>
                </a:solidFill>
                <a:latin typeface="微软雅黑"/>
              </a:rPr>
              <a:t>定位、材质、工艺、渠道全方位对比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8992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63040"/>
          <a:ext cx="104241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  <a:gridCol w="2606040"/>
                <a:gridCol w="2606040"/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对比项</a:t>
                      </a:r>
                    </a:p>
                  </a:txBody>
                  <a:tcPr>
                    <a:solidFill>
                      <a:srgbClr val="1937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松间仙鹤</a:t>
                      </a:r>
                    </a:p>
                  </a:txBody>
                  <a:tcPr>
                    <a:solidFill>
                      <a:srgbClr val="1937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萌鹤团子</a:t>
                      </a:r>
                    </a:p>
                  </a:txBody>
                  <a:tcPr>
                    <a:solidFill>
                      <a:srgbClr val="1937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极线飞鹤</a:t>
                      </a:r>
                    </a:p>
                  </a:txBody>
                  <a:tcPr>
                    <a:solidFill>
                      <a:srgbClr val="19376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风格定位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国风文创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Q 版可爱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现代极简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目标人群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文化爱好者/游客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年轻人/学生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品质生活人群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材质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软 PVC 浮雕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滴胶亚克力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陶瓷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尺寸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78×55×5mm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Φ60×4mm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85×40×3.5mm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重量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~25g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~18g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~35g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工艺复杂度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★★★☆☆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★★☆☆☆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★★★★☆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建议零售价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¥68-88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¥35-45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¥58-78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目标渠道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景区/博物馆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电商/市集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买手店/联名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生产周期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15-20 天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10-15 天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25-30 天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起订量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500 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300 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</a:rPr>
                        <a:t>200 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成本估算与定价</a:t>
            </a:r>
          </a:p>
          <a:p>
            <a:r>
              <a:rPr sz="1400" b="0">
                <a:solidFill>
                  <a:srgbClr val="C8C8C8"/>
                </a:solidFill>
                <a:latin typeface="微软雅黑"/>
              </a:rPr>
              <a:t>基于 1000 个起订量估算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376D"/>
                </a:solidFill>
                <a:latin typeface="微软雅黑"/>
              </a:rPr>
              <a:t>松间仙鹤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371600"/>
            <a:ext cx="2286000" cy="4572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成本 ¥17-24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1371600"/>
            <a:ext cx="3657600" cy="4572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售价 ¥68-88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371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41E1E"/>
                </a:solidFill>
                <a:latin typeface="微软雅黑"/>
              </a:rPr>
              <a:t>毛利率 ~73%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D7D31"/>
                </a:solidFill>
                <a:latin typeface="微软雅黑"/>
              </a:rPr>
              <a:t>萌鹤团子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200400"/>
            <a:ext cx="2286000" cy="4572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成本 ¥11-17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3200400"/>
            <a:ext cx="365760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售价 ¥35-45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200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41E1E"/>
                </a:solidFill>
                <a:latin typeface="微软雅黑"/>
              </a:rPr>
              <a:t>毛利率 ~65%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1E1E"/>
                </a:solidFill>
                <a:latin typeface="微软雅黑"/>
              </a:rPr>
              <a:t>极线飞鹤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029200"/>
            <a:ext cx="2286000" cy="4572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成本 ¥32-46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5029200"/>
            <a:ext cx="3657600" cy="457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售价 ¥58-78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5029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41E1E"/>
                </a:solidFill>
                <a:latin typeface="微软雅黑"/>
              </a:rPr>
              <a:t>毛利率 ~42%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10789920" cy="1645920"/>
          </a:xfrm>
          <a:prstGeom prst="roundRect">
            <a:avLst/>
          </a:prstGeom>
          <a:solidFill>
            <a:srgbClr val="F0F5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376D"/>
                </a:solidFill>
                <a:latin typeface="微软雅黑"/>
              </a:rPr>
              <a:t>成本构成（以松间仙鹤为例）</a:t>
            </a:r>
          </a:p>
          <a:p>
            <a:br/>
            <a:r>
              <a:rPr sz="1300" b="0">
                <a:solidFill>
                  <a:srgbClr val="000000"/>
                </a:solidFill>
                <a:latin typeface="微软雅黑"/>
              </a:rPr>
              <a:t>材料成本 ¥8-12 (47%)  |  加工成本 ¥6-8 (35%)  |  包装成本 ¥3-4 (18%)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打样与生产</a:t>
            </a:r>
          </a:p>
          <a:p>
            <a:r>
              <a:rPr sz="1400" b="0">
                <a:solidFill>
                  <a:srgbClr val="C8C8C8"/>
                </a:solidFill>
                <a:latin typeface="微软雅黑"/>
              </a:rPr>
              <a:t>从设计到交付的完整流程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2286000"/>
          </a:xfrm>
          <a:prstGeom prst="roundRect">
            <a:avLst/>
          </a:prstGeom>
          <a:solidFill>
            <a:srgbClr val="F0F5FA"/>
          </a:solidFill>
          <a:ln w="3175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9376D"/>
                </a:solidFill>
                <a:latin typeface="微软雅黑"/>
              </a:rPr>
              <a:t>设计确认</a:t>
            </a:r>
          </a:p>
          <a:p>
            <a:br/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矢量文件 AI/CDR</a:t>
            </a:r>
            <a:br/>
            <a:r>
              <a:rPr sz="1100" b="0">
                <a:solidFill>
                  <a:srgbClr val="000000"/>
                </a:solidFill>
                <a:latin typeface="微软雅黑"/>
              </a:rPr>
              <a:t>3D 文件 STP/IGS</a:t>
            </a:r>
            <a:br/>
            <a:r>
              <a:rPr sz="1100" b="0">
                <a:solidFill>
                  <a:srgbClr val="000000"/>
                </a:solidFill>
                <a:latin typeface="微软雅黑"/>
              </a:rPr>
              <a:t>效果图 PNG/JPG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383280" y="2560320"/>
            <a:ext cx="731520" cy="7315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2560320" cy="2286000"/>
          </a:xfrm>
          <a:prstGeom prst="roundRect">
            <a:avLst/>
          </a:prstGeom>
          <a:solidFill>
            <a:srgbClr val="F0F5FA"/>
          </a:solidFill>
          <a:ln w="317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D7D31"/>
                </a:solidFill>
                <a:latin typeface="微软雅黑"/>
              </a:rPr>
              <a:t>打样制作</a:t>
            </a:r>
          </a:p>
          <a:p>
            <a:br/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3-5 个样品</a:t>
            </a:r>
            <a:br/>
            <a:r>
              <a:rPr sz="1100" b="0">
                <a:solidFill>
                  <a:srgbClr val="000000"/>
                </a:solidFill>
                <a:latin typeface="微软雅黑"/>
              </a:rPr>
              <a:t>7-15 工作日</a:t>
            </a:r>
            <a:br/>
            <a:r>
              <a:rPr sz="1100" b="0">
                <a:solidFill>
                  <a:srgbClr val="000000"/>
                </a:solidFill>
                <a:latin typeface="微软雅黑"/>
              </a:rPr>
              <a:t>费用可退还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309360" y="2560320"/>
            <a:ext cx="731520" cy="7315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2560320" cy="2286000"/>
          </a:xfrm>
          <a:prstGeom prst="roundRect">
            <a:avLst/>
          </a:prstGeom>
          <a:solidFill>
            <a:srgbClr val="F0F5FA"/>
          </a:solidFill>
          <a:ln w="317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472C4"/>
                </a:solidFill>
                <a:latin typeface="微软雅黑"/>
              </a:rPr>
              <a:t>样品确认</a:t>
            </a:r>
          </a:p>
          <a:p>
            <a:br/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颜色对色卡</a:t>
            </a:r>
            <a:br/>
            <a:r>
              <a:rPr sz="1100" b="0">
                <a:solidFill>
                  <a:srgbClr val="000000"/>
                </a:solidFill>
                <a:latin typeface="微软雅黑"/>
              </a:rPr>
              <a:t>尺寸测量</a:t>
            </a:r>
            <a:br/>
            <a:r>
              <a:rPr sz="1100" b="0">
                <a:solidFill>
                  <a:srgbClr val="000000"/>
                </a:solidFill>
                <a:latin typeface="微软雅黑"/>
              </a:rPr>
              <a:t>工艺确认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235440" y="2560320"/>
            <a:ext cx="731520" cy="7315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09760" y="1828800"/>
            <a:ext cx="2560320" cy="2286000"/>
          </a:xfrm>
          <a:prstGeom prst="roundRect">
            <a:avLst/>
          </a:prstGeom>
          <a:solidFill>
            <a:srgbClr val="F0F5FA"/>
          </a:solidFill>
          <a:ln w="3175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1E1E"/>
                </a:solidFill>
                <a:latin typeface="微软雅黑"/>
              </a:rPr>
              <a:t>批量生产</a:t>
            </a:r>
          </a:p>
          <a:p>
            <a:br/>
            <a:pPr algn="ctr"/>
            <a:r>
              <a:rPr sz="1100" b="0">
                <a:solidFill>
                  <a:srgbClr val="000000"/>
                </a:solidFill>
                <a:latin typeface="微软雅黑"/>
              </a:rPr>
              <a:t>按订单量生产</a:t>
            </a:r>
            <a:br/>
            <a:r>
              <a:rPr sz="1100" b="0">
                <a:solidFill>
                  <a:srgbClr val="000000"/>
                </a:solidFill>
                <a:latin typeface="微软雅黑"/>
              </a:rPr>
              <a:t>15-30 天周期</a:t>
            </a:r>
            <a:br/>
            <a:r>
              <a:rPr sz="1100" b="0">
                <a:solidFill>
                  <a:srgbClr val="000000"/>
                </a:solidFill>
                <a:latin typeface="微软雅黑"/>
              </a:rPr>
              <a:t>质检包装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572000"/>
            <a:ext cx="10789920" cy="1828800"/>
          </a:xfrm>
          <a:prstGeom prst="rect">
            <a:avLst/>
          </a:prstGeom>
          <a:solidFill>
            <a:srgbClr val="FFFAF0"/>
          </a:solidFill>
          <a:ln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1E1E"/>
                </a:solidFill>
                <a:latin typeface="微软雅黑"/>
              </a:rPr>
              <a:t>打样通用要求</a:t>
            </a:r>
          </a:p>
          <a:p>
            <a:br/>
            <a:r>
              <a:t>• 打样数量：每款 3-5 个  |  • 打样周期：7-15 工作日  |  • 打样费用：大货下单后可退还</a:t>
            </a:r>
          </a:p>
          <a:p>
            <a:r>
              <a:rPr sz="1200" b="0">
                <a:solidFill>
                  <a:srgbClr val="000000"/>
                </a:solidFill>
                <a:latin typeface="微软雅黑"/>
              </a:rPr>
              <a:t>• 颜色确认：提供 Pantone 色卡对色  |  • 尺寸确认：游标卡尺测量，公差范围内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质量标准</a:t>
            </a:r>
          </a:p>
          <a:p>
            <a:r>
              <a:rPr sz="1400" b="0">
                <a:solidFill>
                  <a:srgbClr val="C8C8C8"/>
                </a:solidFill>
                <a:latin typeface="微软雅黑"/>
              </a:rPr>
              <a:t>符合国际环保与安全标准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572000"/>
          </a:xfrm>
          <a:prstGeom prst="roundRect">
            <a:avLst/>
          </a:prstGeom>
          <a:solidFill>
            <a:srgbClr val="F0F5FA"/>
          </a:solidFill>
          <a:ln w="31750"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376D"/>
                </a:solidFill>
                <a:latin typeface="微软雅黑"/>
              </a:rPr>
              <a:t>松间仙鹤 (PVC)</a:t>
            </a:r>
          </a:p>
          <a:p>
            <a:br/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色牢度 ≥4 级 (GB/T 251)</a:t>
            </a:r>
          </a:p>
          <a:p>
            <a:br/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附着力 ≥4B (GB/T 9286)</a:t>
            </a:r>
          </a:p>
          <a:p>
            <a:br/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耐温性 -20℃~60℃</a:t>
            </a:r>
          </a:p>
          <a:p>
            <a:br/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环保 EN71-3、REACH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474720" cy="4572000"/>
          </a:xfrm>
          <a:prstGeom prst="roundRect">
            <a:avLst/>
          </a:prstGeom>
          <a:solidFill>
            <a:srgbClr val="F0F5FA"/>
          </a:solidFill>
          <a:ln w="317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D7D31"/>
                </a:solidFill>
                <a:latin typeface="微软雅黑"/>
              </a:rPr>
              <a:t>萌鹤团子 (滴胶)</a:t>
            </a:r>
          </a:p>
          <a:p>
            <a:br/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滴胶硬度 ≥80 Shore D</a:t>
            </a:r>
          </a:p>
          <a:p>
            <a:br/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透光率 ≥90%</a:t>
            </a:r>
          </a:p>
          <a:p>
            <a:br/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耐黄变 ≥1000 小时 (UV)</a:t>
            </a:r>
          </a:p>
          <a:p>
            <a:br/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环保 EN71-3、REACH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371600"/>
            <a:ext cx="3474720" cy="4572000"/>
          </a:xfrm>
          <a:prstGeom prst="roundRect">
            <a:avLst/>
          </a:prstGeom>
          <a:solidFill>
            <a:srgbClr val="F0F5FA"/>
          </a:solidFill>
          <a:ln w="3175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1E1E"/>
                </a:solidFill>
                <a:latin typeface="微软雅黑"/>
              </a:rPr>
              <a:t>极线飞鹤 (陶瓷)</a:t>
            </a:r>
          </a:p>
          <a:p>
            <a:br/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吸水率 ≤0.5%</a:t>
            </a:r>
          </a:p>
          <a:p>
            <a:br/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抗折强度 ≥35MPa</a:t>
            </a:r>
          </a:p>
          <a:p>
            <a:br/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釉面硬度 ≥6 Mohs</a:t>
            </a:r>
          </a:p>
          <a:p>
            <a:br/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耐温 -10℃~100℃, FDA、LFGB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包装方案</a:t>
            </a:r>
          </a:p>
          <a:p>
            <a:r>
              <a:rPr sz="1400" b="0">
                <a:solidFill>
                  <a:srgbClr val="C8C8C8"/>
                </a:solidFill>
                <a:latin typeface="微软雅黑"/>
              </a:rPr>
              <a:t>保护产品 + 提升体验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89920" cy="1463040"/>
          </a:xfrm>
          <a:prstGeom prst="rect">
            <a:avLst/>
          </a:prstGeom>
          <a:solidFill>
            <a:srgbClr val="F0F5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松间仙鹤  |  内包装：透明 OPP 袋 + 卡纸背板  |  卡纸：100×150mm, 350g 铜版纸覆哑膜  |  外箱：五层纸箱 100 个/箱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017520"/>
            <a:ext cx="1078992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萌鹤团子  |  内包装：透明 PET 圆盒 + 彩卡  |  卡纸：80×100mm, 300g 铜版纸覆亮膜  |  外箱：五层纸箱 200 个/箱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663440"/>
            <a:ext cx="10789920" cy="1463040"/>
          </a:xfrm>
          <a:prstGeom prst="rect">
            <a:avLst/>
          </a:prstGeom>
          <a:solidFill>
            <a:srgbClr val="F0F5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微软雅黑"/>
              </a:rPr>
              <a:t>极线飞鹤  |  内包装：天地盖纸盒 + EVA 内托  |  卡纸：100×60×20mm, 1200g 灰板特种纸  |  外箱：五层纸箱 100 个/箱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914400"/>
            <a:ext cx="1828800" cy="1828800"/>
          </a:xfrm>
          <a:prstGeom prst="ellipse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感谢审阅</a:t>
            </a:r>
          </a:p>
          <a:p>
            <a:br/>
            <a:pPr algn="ctr">
              <a:spcBef>
                <a:spcPts val="2000"/>
              </a:spcBef>
            </a:pPr>
            <a:r>
              <a:rPr sz="2400" b="0">
                <a:solidFill>
                  <a:srgbClr val="C8C8C8"/>
                </a:solidFill>
                <a:latin typeface="微软雅黑"/>
              </a:rPr>
              <a:t>欢迎洽谈合作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B4B4"/>
                </a:solidFill>
                <a:latin typeface="微软雅黑"/>
              </a:rPr>
              <a:t>设计方：[您的公司/工作室名称]  |  版本 V1.0  |  2026 年 3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